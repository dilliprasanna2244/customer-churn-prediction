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548640"/>
            <a:ext cx="2926080" cy="2926080"/>
          </a:xfrm>
          <a:prstGeom prst="ellipse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474720"/>
            <a:ext cx="3200400" cy="3200400"/>
          </a:xfrm>
          <a:prstGeom prst="ellipse">
            <a:avLst/>
          </a:prstGeom>
          <a:solidFill>
            <a:srgbClr val="22D3EE">
              <a:alpha val="8000"/>
            </a:srgbClr>
          </a:solidFill>
          <a:ln w="1270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548640"/>
            <a:ext cx="3474720" cy="347472"/>
          </a:xfrm>
          <a:prstGeom prst="roundRect">
            <a:avLst>
              <a:gd name="adj" fmla="val 26316"/>
            </a:avLst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486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C4B5FD"/>
                </a:solidFill>
              </a:rPr>
              <a:t>🚀  MICROSOFT ELEVATE INTERNSHIP  2026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731520" y="10515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ChurnShield AI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731520" y="20574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5B4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Customer Churn Prediction Platform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31520" y="2651760"/>
            <a:ext cx="5029200" cy="22860"/>
          </a:xfrm>
          <a:prstGeom prst="rect">
            <a:avLst/>
          </a:prstGeom>
          <a:solidFill>
            <a:srgbClr val="6366F1">
              <a:alpha val="6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78892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 end-to-end Machine Learning project that predicts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which telecom customers will churn — before they do.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920240" cy="566928"/>
          </a:xfrm>
          <a:prstGeom prst="rect">
            <a:avLst/>
          </a:prstGeom>
          <a:solidFill>
            <a:srgbClr val="0D1B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416052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Dilli Prasanna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834640" y="4160520"/>
            <a:ext cx="1920240" cy="566928"/>
          </a:xfrm>
          <a:prstGeom prst="rect">
            <a:avLst/>
          </a:prstGeom>
          <a:solidFill>
            <a:srgbClr val="0D1B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834640" y="416052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Microsoft Elevate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937760" y="4160520"/>
            <a:ext cx="1920240" cy="566928"/>
          </a:xfrm>
          <a:prstGeom prst="rect">
            <a:avLst/>
          </a:prstGeom>
          <a:solidFill>
            <a:srgbClr val="0D1B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416052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February 2026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040880" y="4160520"/>
            <a:ext cx="1920240" cy="566928"/>
          </a:xfrm>
          <a:prstGeom prst="rect">
            <a:avLst/>
          </a:prstGeom>
          <a:solidFill>
            <a:srgbClr val="0D1B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040880" y="416052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&amp; ML | Data Science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498080" y="137160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🛡️</a:t>
            </a:r>
            <a:endParaRPr lang="en-US" sz="7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/  PROBLEM STATEMENT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Customer Churn?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256032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solidFill>
            <a:srgbClr val="0D1B2E"/>
          </a:solidFill>
          <a:ln w="12700">
            <a:solidFill>
              <a:srgbClr val="6366F1">
                <a:alpha val="50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80160"/>
            <a:ext cx="64008" cy="8686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8016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Churn = A customer cancelling their subscription and switching to a competitor.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Example: You use Airtel → switch to Jio → You have CHURNED from Airtel's perspective.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2606040" cy="1554480"/>
          </a:xfrm>
          <a:prstGeom prst="rect">
            <a:avLst/>
          </a:prstGeom>
          <a:solidFill>
            <a:srgbClr val="111E33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331720"/>
            <a:ext cx="2606040" cy="4572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4688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💸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7200" y="29718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Loss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3291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churned customer is lost monthly revenue with no recovery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73552" y="2331720"/>
            <a:ext cx="2606040" cy="1554480"/>
          </a:xfrm>
          <a:prstGeom prst="rect">
            <a:avLst/>
          </a:prstGeom>
          <a:solidFill>
            <a:srgbClr val="111E33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73552" y="2331720"/>
            <a:ext cx="2606040" cy="457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6" name="Text 14"/>
          <p:cNvSpPr/>
          <p:nvPr/>
        </p:nvSpPr>
        <p:spPr>
          <a:xfrm>
            <a:off x="3273552" y="24688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📉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273552" y="29718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Risk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83280" y="3291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Companies don't know WHO will churn until it's already too late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89904" y="2331720"/>
            <a:ext cx="2606040" cy="1554480"/>
          </a:xfrm>
          <a:prstGeom prst="rect">
            <a:avLst/>
          </a:prstGeom>
          <a:solidFill>
            <a:srgbClr val="111E33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9904" y="2331720"/>
            <a:ext cx="260604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6089904" y="24688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💡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089904" y="29718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Solution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99632" y="3291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Predict churn BEFORE it happens and intervene with offers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4069080"/>
            <a:ext cx="8229600" cy="749808"/>
          </a:xfrm>
          <a:prstGeom prst="rect">
            <a:avLst/>
          </a:prstGeom>
          <a:solidFill>
            <a:srgbClr val="0D1B2E"/>
          </a:solidFill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069080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  Costlier to acquire new vs retain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73552" y="4160520"/>
            <a:ext cx="13716" cy="56692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7" name="Text 25"/>
          <p:cNvSpPr/>
          <p:nvPr/>
        </p:nvSpPr>
        <p:spPr>
          <a:xfrm>
            <a:off x="3474720" y="4069080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26.6%  Churn rate in our dataset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89904" y="4160520"/>
            <a:ext cx="13716" cy="56692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9" name="Text 27"/>
          <p:cNvSpPr/>
          <p:nvPr/>
        </p:nvSpPr>
        <p:spPr>
          <a:xfrm>
            <a:off x="6309360" y="4069080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$74/mo  Avg churner bill vs $61 retained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B5CF6"/>
                </a:solidFill>
              </a:rPr>
              <a:t>02  /  DATASET &amp; APPROACH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Telco Customer Churn Dataset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3200400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25880"/>
            <a:ext cx="1965960" cy="868680"/>
          </a:xfrm>
          <a:prstGeom prst="rect">
            <a:avLst/>
          </a:prstGeom>
          <a:solidFill>
            <a:srgbClr val="0D1B2E"/>
          </a:solidFill>
          <a:ln w="12700">
            <a:solidFill>
              <a:srgbClr val="6366F1">
                <a:alpha val="45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25880"/>
            <a:ext cx="196596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173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7,032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180136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Customer Records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06040" y="1325880"/>
            <a:ext cx="1965960" cy="868680"/>
          </a:xfrm>
          <a:prstGeom prst="rect">
            <a:avLst/>
          </a:prstGeom>
          <a:solidFill>
            <a:srgbClr val="0D1B2E"/>
          </a:solidFill>
          <a:ln w="12700">
            <a:solidFill>
              <a:srgbClr val="8B5CF6">
                <a:alpha val="45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06040" y="1325880"/>
            <a:ext cx="196596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14173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06040" y="180136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Input Features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331720"/>
            <a:ext cx="1965960" cy="868680"/>
          </a:xfrm>
          <a:prstGeom prst="rect">
            <a:avLst/>
          </a:prstGeom>
          <a:solidFill>
            <a:srgbClr val="0D1B2E"/>
          </a:solidFill>
          <a:ln w="12700">
            <a:solidFill>
              <a:srgbClr val="F43F5E">
                <a:alpha val="45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331720"/>
            <a:ext cx="1965960" cy="36576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4231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1,869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7200" y="280720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Churned Customers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606040" y="2331720"/>
            <a:ext cx="1965960" cy="868680"/>
          </a:xfrm>
          <a:prstGeom prst="rect">
            <a:avLst/>
          </a:prstGeom>
          <a:solidFill>
            <a:srgbClr val="0D1B2E"/>
          </a:solidFill>
          <a:ln w="12700">
            <a:solidFill>
              <a:srgbClr val="10B981">
                <a:alpha val="45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606040" y="2331720"/>
            <a:ext cx="196596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2606040" y="24231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606040" y="280720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Model Accuracy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337560"/>
            <a:ext cx="4206240" cy="1463040"/>
          </a:xfrm>
          <a:prstGeom prst="rect">
            <a:avLst/>
          </a:prstGeom>
          <a:solidFill>
            <a:srgbClr val="111E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4290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Used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37490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tenure  •  MonthlyCharges  •  TotalCharges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4360" y="40233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Contract  •  InternetService  •  PaymentMethod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" y="42976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OnlineSecurity  •  TechSupport  •  StreamingTV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46320" y="1280160"/>
            <a:ext cx="3886200" cy="3520440"/>
          </a:xfrm>
          <a:prstGeom prst="rect">
            <a:avLst/>
          </a:prstGeom>
          <a:solidFill>
            <a:srgbClr val="0D1B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029200" y="141732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983480" y="1874520"/>
            <a:ext cx="292608" cy="292608"/>
          </a:xfrm>
          <a:prstGeom prst="rect">
            <a:avLst/>
          </a:prstGeom>
          <a:solidFill>
            <a:srgbClr val="6366F1">
              <a:alpha val="8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18745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8FAFC"/>
                </a:solidFill>
              </a:rPr>
              <a:t>01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349240" y="18928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Load &amp; Clean Data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106924" y="2167128"/>
            <a:ext cx="45720" cy="12801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3" name="Shape 31"/>
          <p:cNvSpPr/>
          <p:nvPr/>
        </p:nvSpPr>
        <p:spPr>
          <a:xfrm>
            <a:off x="4983480" y="2295144"/>
            <a:ext cx="292608" cy="292608"/>
          </a:xfrm>
          <a:prstGeom prst="rect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22951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8FAFC"/>
                </a:solidFill>
              </a:rPr>
              <a:t>02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349240" y="23134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Exploratory Analysis (EDA)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106924" y="2587752"/>
            <a:ext cx="45720" cy="12801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7" name="Shape 35"/>
          <p:cNvSpPr/>
          <p:nvPr/>
        </p:nvSpPr>
        <p:spPr>
          <a:xfrm>
            <a:off x="4983480" y="2715768"/>
            <a:ext cx="292608" cy="292608"/>
          </a:xfrm>
          <a:prstGeom prst="rect">
            <a:avLst/>
          </a:prstGeom>
          <a:solidFill>
            <a:srgbClr val="22D3EE">
              <a:alpha val="8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83480" y="27157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8FAFC"/>
                </a:solidFill>
              </a:rPr>
              <a:t>03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349240" y="273405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Encode + Scale Features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106924" y="3008376"/>
            <a:ext cx="45720" cy="12801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1" name="Shape 39"/>
          <p:cNvSpPr/>
          <p:nvPr/>
        </p:nvSpPr>
        <p:spPr>
          <a:xfrm>
            <a:off x="4983480" y="3136392"/>
            <a:ext cx="292608" cy="292608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83480" y="31363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8FAFC"/>
                </a:solidFill>
              </a:rPr>
              <a:t>04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5349240" y="31546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Train / Test Split (80/20)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106924" y="3429000"/>
            <a:ext cx="45720" cy="12801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5" name="Shape 43"/>
          <p:cNvSpPr/>
          <p:nvPr/>
        </p:nvSpPr>
        <p:spPr>
          <a:xfrm>
            <a:off x="4983480" y="3557016"/>
            <a:ext cx="292608" cy="292608"/>
          </a:xfrm>
          <a:prstGeom prst="rect">
            <a:avLst/>
          </a:prstGeom>
          <a:solidFill>
            <a:srgbClr val="FBBF24">
              <a:alpha val="8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83480" y="35570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8FAFC"/>
                </a:solidFill>
              </a:rPr>
              <a:t>05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349240" y="35753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Train 3 ML Models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106924" y="3849624"/>
            <a:ext cx="45720" cy="12801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9" name="Shape 47"/>
          <p:cNvSpPr/>
          <p:nvPr/>
        </p:nvSpPr>
        <p:spPr>
          <a:xfrm>
            <a:off x="4983480" y="3977640"/>
            <a:ext cx="292608" cy="292608"/>
          </a:xfrm>
          <a:prstGeom prst="rect">
            <a:avLst/>
          </a:prstGeom>
          <a:solidFill>
            <a:srgbClr val="F43F5E">
              <a:alpha val="80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83480" y="39776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8FAFC"/>
                </a:solidFill>
              </a:rPr>
              <a:t>06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349240" y="39959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Evaluate &amp; Save Best Model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106924" y="4270248"/>
            <a:ext cx="45720" cy="12801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3" name="Shape 51"/>
          <p:cNvSpPr/>
          <p:nvPr/>
        </p:nvSpPr>
        <p:spPr>
          <a:xfrm>
            <a:off x="4983480" y="4398264"/>
            <a:ext cx="292608" cy="292608"/>
          </a:xfrm>
          <a:prstGeom prst="rect">
            <a:avLst/>
          </a:prstGeom>
          <a:solidFill>
            <a:srgbClr val="A5B4FC">
              <a:alpha val="80000"/>
            </a:srgbClr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83480" y="439826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8FAFC"/>
                </a:solidFill>
              </a:rPr>
              <a:t>07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5349240" y="44165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Deploy Streamlit Web App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0B981"/>
                </a:solidFill>
              </a:rPr>
              <a:t>03  /  MODEL PERFORMANCE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3 ML Algorithms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292608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25880"/>
            <a:ext cx="2606040" cy="2331720"/>
          </a:xfrm>
          <a:prstGeom prst="rect">
            <a:avLst/>
          </a:prstGeom>
          <a:solidFill>
            <a:srgbClr val="0D1B2E"/>
          </a:solidFill>
          <a:ln w="12700">
            <a:solidFill>
              <a:srgbClr val="64748B">
                <a:alpha val="40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25880"/>
            <a:ext cx="2606040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173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78.54%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235915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Accuracy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4360" y="2633472"/>
            <a:ext cx="2331720" cy="1371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69748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Precision: 62%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295351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Recall: 49%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20954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F1-Score: 55%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46120" y="1325880"/>
            <a:ext cx="2606040" cy="2331720"/>
          </a:xfrm>
          <a:prstGeom prst="rect">
            <a:avLst/>
          </a:prstGeom>
          <a:solidFill>
            <a:srgbClr val="0D1B2E"/>
          </a:solidFill>
          <a:ln w="12700">
            <a:solidFill>
              <a:srgbClr val="8B5CF6">
                <a:alpha val="40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1325880"/>
            <a:ext cx="260604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3337560" y="14173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246120" y="178308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79.03%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3246120" y="235915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Accuracy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383280" y="2633472"/>
            <a:ext cx="2331720" cy="1371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3383280" y="269748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Precision: 64%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83280" y="295351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Recall: 48%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83280" y="320954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F1-Score: 55%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35040" y="1325880"/>
            <a:ext cx="2606040" cy="2331720"/>
          </a:xfrm>
          <a:prstGeom prst="rect">
            <a:avLst/>
          </a:prstGeom>
          <a:solidFill>
            <a:srgbClr val="0A1F15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0" y="1325880"/>
            <a:ext cx="260604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Shape 24"/>
          <p:cNvSpPr/>
          <p:nvPr/>
        </p:nvSpPr>
        <p:spPr>
          <a:xfrm>
            <a:off x="7406640" y="1389888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10B981">
              <a:alpha val="80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06640" y="138988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86EFAC"/>
                </a:solidFill>
              </a:rPr>
              <a:t>BEST MODEL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6126480" y="14173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★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035040" y="178308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79.53%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6035040" y="235915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Accuracy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72200" y="2633472"/>
            <a:ext cx="2331720" cy="1371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2" name="Text 30"/>
          <p:cNvSpPr/>
          <p:nvPr/>
        </p:nvSpPr>
        <p:spPr>
          <a:xfrm>
            <a:off x="6172200" y="269748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Precision: 65%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172200" y="295351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Recall: 49%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172200" y="320954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F1-Score: 56%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3749040"/>
            <a:ext cx="8229600" cy="1097280"/>
          </a:xfrm>
          <a:prstGeom prst="rect">
            <a:avLst/>
          </a:prstGeom>
          <a:solidFill>
            <a:srgbClr val="071A0F"/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3749040"/>
            <a:ext cx="64008" cy="10972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382219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Gradient Boosting Wins?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0080" y="411480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Builds 100 decision trees SEQUENTIALLY — each tree learns from the mistakes of the previous one (like a student improving each exam). Logistic Regression draws one line — too simple. Random Forest builds trees independently without learning from errors. Gradient Boosting's sequential error-correction gives it the winning edge.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2D3EE"/>
                </a:solidFill>
              </a:rPr>
              <a:t>04  /  KEY INSIGHTS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Customer Churn?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2743200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Churn Predictors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920240" y="1700784"/>
            <a:ext cx="2651760" cy="182880"/>
          </a:xfrm>
          <a:prstGeom prst="rect">
            <a:avLst/>
          </a:prstGeom>
          <a:solidFill>
            <a:srgbClr val="111E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20240" y="1700784"/>
            <a:ext cx="2253996" cy="182880"/>
          </a:xfrm>
          <a:prstGeom prst="rect">
            <a:avLst/>
          </a:prstGeom>
          <a:solidFill>
            <a:srgbClr val="6366F1">
              <a:alpha val="8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166420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1031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TotalCharges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20240" y="2139696"/>
            <a:ext cx="2651760" cy="182880"/>
          </a:xfrm>
          <a:prstGeom prst="rect">
            <a:avLst/>
          </a:prstGeom>
          <a:solidFill>
            <a:srgbClr val="111E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20240" y="2139696"/>
            <a:ext cx="1988820" cy="182880"/>
          </a:xfrm>
          <a:prstGeom prst="rect">
            <a:avLst/>
          </a:prstGeom>
          <a:solidFill>
            <a:srgbClr val="8B5CF6">
              <a:alpha val="8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210312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542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MonthlyCharges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920240" y="2578608"/>
            <a:ext cx="2651760" cy="182880"/>
          </a:xfrm>
          <a:prstGeom prst="rect">
            <a:avLst/>
          </a:prstGeom>
          <a:solidFill>
            <a:srgbClr val="111E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20240" y="2578608"/>
            <a:ext cx="1803197" cy="182880"/>
          </a:xfrm>
          <a:prstGeom prst="rect">
            <a:avLst/>
          </a:prstGeom>
          <a:solidFill>
            <a:srgbClr val="22D3EE">
              <a:alpha val="8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617720" y="254203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298094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920240" y="3017520"/>
            <a:ext cx="2651760" cy="182880"/>
          </a:xfrm>
          <a:prstGeom prst="rect">
            <a:avLst/>
          </a:prstGeom>
          <a:solidFill>
            <a:srgbClr val="111E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20240" y="3017520"/>
            <a:ext cx="1591056" cy="182880"/>
          </a:xfrm>
          <a:prstGeom prst="rect">
            <a:avLst/>
          </a:prstGeom>
          <a:solidFill>
            <a:srgbClr val="10B981">
              <a:alpha val="8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617720" y="298094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34198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InternetService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920240" y="3456432"/>
            <a:ext cx="2651760" cy="182880"/>
          </a:xfrm>
          <a:prstGeom prst="rect">
            <a:avLst/>
          </a:prstGeom>
          <a:solidFill>
            <a:srgbClr val="111E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20240" y="3456432"/>
            <a:ext cx="1272845" cy="182880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617720" y="341985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983480" y="1280160"/>
            <a:ext cx="3749040" cy="1115568"/>
          </a:xfrm>
          <a:prstGeom prst="rect">
            <a:avLst/>
          </a:prstGeom>
          <a:solidFill>
            <a:srgbClr val="0D1B2E"/>
          </a:solidFill>
          <a:ln w="12700">
            <a:solidFill>
              <a:srgbClr val="F43F5E">
                <a:alpha val="45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983480" y="1280160"/>
            <a:ext cx="54864" cy="1115568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29" name="Text 27"/>
          <p:cNvSpPr/>
          <p:nvPr/>
        </p:nvSpPr>
        <p:spPr>
          <a:xfrm>
            <a:off x="512064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669280" y="135331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669280" y="17556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churn rate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0" y="202996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vs only 3% for 2-year contracts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983480" y="2542032"/>
            <a:ext cx="3749040" cy="1115568"/>
          </a:xfrm>
          <a:prstGeom prst="rect">
            <a:avLst/>
          </a:prstGeom>
          <a:solidFill>
            <a:srgbClr val="0D1B2E"/>
          </a:solidFill>
          <a:ln w="12700">
            <a:solidFill>
              <a:srgbClr val="FBBF24">
                <a:alpha val="45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983480" y="2542032"/>
            <a:ext cx="54864" cy="111556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5" name="Text 33"/>
          <p:cNvSpPr/>
          <p:nvPr/>
        </p:nvSpPr>
        <p:spPr>
          <a:xfrm>
            <a:off x="5120640" y="26334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⏱️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5669280" y="261518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mo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5669280" y="30175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tenure when churning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669280" y="32918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vs 37 months for loyal customers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983480" y="3803904"/>
            <a:ext cx="3749040" cy="1115568"/>
          </a:xfrm>
          <a:prstGeom prst="rect">
            <a:avLst/>
          </a:prstGeom>
          <a:solidFill>
            <a:srgbClr val="0D1B2E"/>
          </a:solidFill>
          <a:ln w="12700">
            <a:solidFill>
              <a:srgbClr val="22D3EE">
                <a:alpha val="45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983480" y="3803904"/>
            <a:ext cx="54864" cy="111556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1" name="Text 39"/>
          <p:cNvSpPr/>
          <p:nvPr/>
        </p:nvSpPr>
        <p:spPr>
          <a:xfrm>
            <a:off x="5120640" y="38953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💳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5669280" y="387705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5669280" y="427939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 = highest churn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669280" y="45537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Auto-pay customers stay longer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57200" y="4526280"/>
            <a:ext cx="8229600" cy="347472"/>
          </a:xfrm>
          <a:prstGeom prst="rect">
            <a:avLst/>
          </a:prstGeom>
          <a:solidFill>
            <a:srgbClr val="0D1B2E"/>
          </a:solidFill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452628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Contract type is the #1 business lever — converting month-to-month customers to annual plans could reduce churn by up to 39%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B5CF6"/>
                </a:solidFill>
              </a:rPr>
              <a:t>05  /  DEPLOYMENT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ChurnShield AI — Live Web App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292608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98448"/>
            <a:ext cx="2633472" cy="2788920"/>
          </a:xfrm>
          <a:prstGeom prst="rect">
            <a:avLst/>
          </a:prstGeom>
          <a:solidFill>
            <a:srgbClr val="0D1B2E"/>
          </a:solidFill>
          <a:ln w="12700">
            <a:solidFill>
              <a:srgbClr val="6366F1">
                <a:alpha val="50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98448"/>
            <a:ext cx="2633472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89888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97280" y="2167128"/>
            <a:ext cx="1353312" cy="27432"/>
          </a:xfrm>
          <a:prstGeom prst="rect">
            <a:avLst/>
          </a:prstGeom>
          <a:solidFill>
            <a:srgbClr val="6366F1">
              <a:alpha val="5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286000"/>
            <a:ext cx="2359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KPI cards — Churn rate, accuracy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633472"/>
            <a:ext cx="2359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Donut chart — Churned vs Retained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2980944"/>
            <a:ext cx="2359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Bar chart — Contract vs Churn rate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3328416"/>
            <a:ext cx="2359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Histogram, Box plot analysis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3675888"/>
            <a:ext cx="2359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Business insight callouts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46120" y="1298448"/>
            <a:ext cx="2633472" cy="2788920"/>
          </a:xfrm>
          <a:prstGeom prst="rect">
            <a:avLst/>
          </a:prstGeom>
          <a:solidFill>
            <a:srgbClr val="0D1B2E"/>
          </a:solidFill>
          <a:ln w="12700">
            <a:solidFill>
              <a:srgbClr val="8B5CF6">
                <a:alpha val="50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1298448"/>
            <a:ext cx="2633472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3246120" y="1389888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🔮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246120" y="1828800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Churn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886200" y="2167128"/>
            <a:ext cx="1353312" cy="27432"/>
          </a:xfrm>
          <a:prstGeom prst="rect">
            <a:avLst/>
          </a:prstGeom>
          <a:solidFill>
            <a:srgbClr val="8B5CF6">
              <a:alpha val="5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383280" y="2286000"/>
            <a:ext cx="2359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19-feature customer input form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83280" y="2633472"/>
            <a:ext cx="2359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Instant churn probability 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83280" y="2980944"/>
            <a:ext cx="2359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High Risk ⚠️ or Low Risk ✅ result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83280" y="3328416"/>
            <a:ext cx="2359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Risk probability meter bar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83280" y="3675888"/>
            <a:ext cx="2359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Smart retention recommendations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35040" y="1298448"/>
            <a:ext cx="2633472" cy="2788920"/>
          </a:xfrm>
          <a:prstGeom prst="rect">
            <a:avLst/>
          </a:prstGeom>
          <a:solidFill>
            <a:srgbClr val="0D1B2E"/>
          </a:solidFill>
          <a:ln w="12700">
            <a:solidFill>
              <a:srgbClr val="22D3EE">
                <a:alpha val="50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35040" y="1298448"/>
            <a:ext cx="2633472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8" name="Text 26"/>
          <p:cNvSpPr/>
          <p:nvPr/>
        </p:nvSpPr>
        <p:spPr>
          <a:xfrm>
            <a:off x="6035040" y="1389888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035040" y="1828800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Insights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675120" y="2167128"/>
            <a:ext cx="1353312" cy="27432"/>
          </a:xfrm>
          <a:prstGeom prst="rect">
            <a:avLst/>
          </a:prstGeom>
          <a:solidFill>
            <a:srgbClr val="22D3EE">
              <a:alpha val="5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172200" y="2286000"/>
            <a:ext cx="2359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Accuracy, Precision, Recall, F1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172200" y="2633472"/>
            <a:ext cx="2359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Algorithm comparison chart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72200" y="2980944"/>
            <a:ext cx="2359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Top 10 feature importance bars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72200" y="3328416"/>
            <a:ext cx="2359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Confusion matrix heatmap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72200" y="3675888"/>
            <a:ext cx="2359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›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TP / TN / FP / FN breakdown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4206240"/>
            <a:ext cx="8229600" cy="658368"/>
          </a:xfrm>
          <a:prstGeom prst="rect">
            <a:avLst/>
          </a:prstGeom>
          <a:solidFill>
            <a:srgbClr val="111E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4206240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5B4FC"/>
                </a:solidFill>
              </a:rPr>
              <a:t>Tech Stack: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645920" y="4352544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645920" y="4352544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4B5FD"/>
                </a:solidFill>
              </a:rPr>
              <a:t>Python 3.10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596896" y="4352544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96896" y="4352544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4B5FD"/>
                </a:solidFill>
              </a:rPr>
              <a:t>Scikit-Learn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547872" y="4352544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47872" y="4352544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4B5FD"/>
                </a:solidFill>
              </a:rPr>
              <a:t>Pandas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498848" y="4352544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98848" y="4352544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4B5FD"/>
                </a:solidFill>
              </a:rPr>
              <a:t>Matplotlib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5449824" y="4352544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49824" y="4352544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4B5FD"/>
                </a:solidFill>
              </a:rPr>
              <a:t>Seaborn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6400800" y="4352544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0" y="4352544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4B5FD"/>
                </a:solidFill>
              </a:rPr>
              <a:t>Streamlit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7351776" y="4352544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51776" y="4352544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4B5FD"/>
                </a:solidFill>
              </a:rPr>
              <a:t>Joblib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8302752" y="4352544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302752" y="4352544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4B5FD"/>
                </a:solidFill>
              </a:rPr>
              <a:t>GitHub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6366F1">
              <a:alpha val="10000"/>
            </a:srgbClr>
          </a:solidFill>
          <a:ln w="12700">
            <a:solidFill>
              <a:srgbClr val="6366F1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4114800" cy="4114800"/>
          </a:xfrm>
          <a:prstGeom prst="ellipse">
            <a:avLst/>
          </a:prstGeom>
          <a:solidFill>
            <a:srgbClr val="8B5CF6">
              <a:alpha val="10000"/>
            </a:srgbClr>
          </a:solidFill>
          <a:ln w="12700">
            <a:solidFill>
              <a:srgbClr val="8B5CF6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3200400"/>
            <a:ext cx="2743200" cy="2743200"/>
          </a:xfrm>
          <a:prstGeom prst="ellipse">
            <a:avLst/>
          </a:prstGeom>
          <a:solidFill>
            <a:srgbClr val="22D3EE">
              <a:alpha val="7000"/>
            </a:srgbClr>
          </a:solidFill>
          <a:ln w="1270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0" y="45720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🛡️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600" dirty="0"/>
          </a:p>
        </p:txBody>
      </p:sp>
      <p:sp>
        <p:nvSpPr>
          <p:cNvPr id="9" name="Shape 7"/>
          <p:cNvSpPr/>
          <p:nvPr/>
        </p:nvSpPr>
        <p:spPr>
          <a:xfrm>
            <a:off x="3200400" y="2633472"/>
            <a:ext cx="27432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5B4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ChurnShield AI — Predicting churn before it happens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337560"/>
            <a:ext cx="1828800" cy="1005840"/>
          </a:xfrm>
          <a:prstGeom prst="rect">
            <a:avLst/>
          </a:prstGeom>
          <a:solidFill>
            <a:srgbClr val="0D1B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3337560"/>
            <a:ext cx="18288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4015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40080" y="368503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Customer Churn Prediction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651760" y="3337560"/>
            <a:ext cx="1828800" cy="1005840"/>
          </a:xfrm>
          <a:prstGeom prst="rect">
            <a:avLst/>
          </a:prstGeom>
          <a:solidFill>
            <a:srgbClr val="0D1B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651760" y="3337560"/>
            <a:ext cx="182880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2651760" y="34015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651760" y="368503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Microsoft Elevate 2026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3337560"/>
            <a:ext cx="1828800" cy="1005840"/>
          </a:xfrm>
          <a:prstGeom prst="rect">
            <a:avLst/>
          </a:prstGeom>
          <a:solidFill>
            <a:srgbClr val="0D1B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3337560"/>
            <a:ext cx="1828800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34015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663440" y="368503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Gradient Boosting — 79.5%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675120" y="3337560"/>
            <a:ext cx="1828800" cy="1005840"/>
          </a:xfrm>
          <a:prstGeom prst="rect">
            <a:avLst/>
          </a:prstGeom>
          <a:solidFill>
            <a:srgbClr val="0D1B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675120" y="3337560"/>
            <a:ext cx="18288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6675120" y="34015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675120" y="368503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Python · Streamlit · Sklearn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🔗  github.com/DilliPrasanna2244/customer-churn-prediction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ChurnShield AI — Microsoft Elevate Internship</dc:title>
  <dc:subject>PptxGenJS Presentation</dc:subject>
  <dc:creator>PptxGenJS</dc:creator>
  <cp:lastModifiedBy>PptxGenJS</cp:lastModifiedBy>
  <cp:revision>1</cp:revision>
  <dcterms:created xsi:type="dcterms:W3CDTF">2026-02-22T19:11:32Z</dcterms:created>
  <dcterms:modified xsi:type="dcterms:W3CDTF">2026-02-22T19:11:32Z</dcterms:modified>
</cp:coreProperties>
</file>